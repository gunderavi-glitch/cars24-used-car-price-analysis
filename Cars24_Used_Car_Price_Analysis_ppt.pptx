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6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values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58D-484E-88DC-EE5194109F91}"/>
              </c:ext>
            </c:extLst>
          </c:dPt>
          <c:dPt>
            <c:idx val="1"/>
            <c:invertIfNegative val="0"/>
            <c:bubble3D val="0"/>
            <c:spPr>
              <a:solidFill>
                <a:srgbClr val="E872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58D-484E-88DC-EE5194109F91}"/>
              </c:ext>
            </c:extLst>
          </c:dPt>
          <c:dPt>
            <c:idx val="2"/>
            <c:invertIfNegative val="0"/>
            <c:bubble3D val="0"/>
            <c:spPr>
              <a:solidFill>
                <a:srgbClr val="E872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58D-484E-88DC-EE5194109F91}"/>
              </c:ext>
            </c:extLst>
          </c:dPt>
          <c:dPt>
            <c:idx val="3"/>
            <c:invertIfNegative val="0"/>
            <c:bubble3D val="0"/>
            <c:spPr>
              <a:solidFill>
                <a:srgbClr val="E872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58D-484E-88DC-EE5194109F91}"/>
              </c:ext>
            </c:extLst>
          </c:dPt>
          <c:dPt>
            <c:idx val="4"/>
            <c:invertIfNegative val="0"/>
            <c:bubble3D val="0"/>
            <c:spPr>
              <a:solidFill>
                <a:srgbClr val="E872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58D-484E-88DC-EE5194109F91}"/>
              </c:ext>
            </c:extLst>
          </c:dPt>
          <c:dPt>
            <c:idx val="5"/>
            <c:invertIfNegative val="0"/>
            <c:bubble3D val="0"/>
            <c:spPr>
              <a:solidFill>
                <a:srgbClr val="E872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58D-484E-88DC-EE5194109F91}"/>
              </c:ext>
            </c:extLst>
          </c:dPt>
          <c:dPt>
            <c:idx val="6"/>
            <c:invertIfNegative val="0"/>
            <c:bubble3D val="0"/>
            <c:spPr>
              <a:solidFill>
                <a:srgbClr val="E872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58D-484E-88DC-EE5194109F91}"/>
              </c:ext>
            </c:extLst>
          </c:dPt>
          <c:dPt>
            <c:idx val="7"/>
            <c:invertIfNegative val="0"/>
            <c:bubble3D val="0"/>
            <c:spPr>
              <a:solidFill>
                <a:srgbClr val="E872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58D-484E-88DC-EE5194109F91}"/>
              </c:ext>
            </c:extLst>
          </c:dPt>
          <c:dPt>
            <c:idx val="8"/>
            <c:invertIfNegative val="0"/>
            <c:bubble3D val="0"/>
            <c:spPr>
              <a:solidFill>
                <a:srgbClr val="B9BF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58D-484E-88DC-EE5194109F91}"/>
              </c:ext>
            </c:extLst>
          </c:dPt>
          <c:dPt>
            <c:idx val="9"/>
            <c:invertIfNegative val="0"/>
            <c:bubble3D val="0"/>
            <c:spPr>
              <a:solidFill>
                <a:srgbClr val="B9BF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B58D-484E-88DC-EE5194109F91}"/>
              </c:ext>
            </c:extLst>
          </c:dPt>
          <c:dPt>
            <c:idx val="10"/>
            <c:invertIfNegative val="0"/>
            <c:bubble3D val="0"/>
            <c:spPr>
              <a:solidFill>
                <a:srgbClr val="B9BF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B58D-484E-88DC-EE5194109F91}"/>
              </c:ext>
            </c:extLst>
          </c:dPt>
          <c:dPt>
            <c:idx val="11"/>
            <c:invertIfNegative val="0"/>
            <c:bubble3D val="0"/>
            <c:spPr>
              <a:solidFill>
                <a:srgbClr val="B9BF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B58D-484E-88DC-EE5194109F9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Registration</c:v>
                </c:pt>
                <c:pt idx="1">
                  <c:v>Model</c:v>
                </c:pt>
                <c:pt idx="2">
                  <c:v>Brand</c:v>
                </c:pt>
                <c:pt idx="3">
                  <c:v>Location</c:v>
                </c:pt>
                <c:pt idx="4">
                  <c:v>Listed_price</c:v>
                </c:pt>
                <c:pt idx="5">
                  <c:v>Year</c:v>
                </c:pt>
                <c:pt idx="6">
                  <c:v>EMI/Month</c:v>
                </c:pt>
                <c:pt idx="7">
                  <c:v>Varient</c:v>
                </c:pt>
                <c:pt idx="8">
                  <c:v>KM_Driven</c:v>
                </c:pt>
                <c:pt idx="9">
                  <c:v>Fuel</c:v>
                </c:pt>
                <c:pt idx="10">
                  <c:v>Transmission</c:v>
                </c:pt>
                <c:pt idx="11">
                  <c:v>Final_price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862</c:v>
                </c:pt>
                <c:pt idx="1">
                  <c:v>381</c:v>
                </c:pt>
                <c:pt idx="2">
                  <c:v>347</c:v>
                </c:pt>
                <c:pt idx="3">
                  <c:v>302</c:v>
                </c:pt>
                <c:pt idx="4">
                  <c:v>271</c:v>
                </c:pt>
                <c:pt idx="5">
                  <c:v>203</c:v>
                </c:pt>
                <c:pt idx="6">
                  <c:v>41</c:v>
                </c:pt>
                <c:pt idx="7">
                  <c:v>30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B58D-484E-88DC-EE5194109F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024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572000" cy="4572000"/>
          </a:xfrm>
          <a:prstGeom prst="ellipse">
            <a:avLst/>
          </a:prstGeom>
          <a:solidFill>
            <a:srgbClr val="0E1A30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4846320"/>
            <a:ext cx="1645920" cy="1645920"/>
          </a:xfrm>
          <a:prstGeom prst="ellipse">
            <a:avLst/>
          </a:prstGeom>
          <a:solidFill>
            <a:srgbClr val="0E1A3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Analysis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Collection, Cleaning &amp; EDA on the Cars24 Marketplace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987 listings  •  12 scraped attributes  •  8 cities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Analysis  |  Cars24 Dataset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492240" cy="448056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used car market lists thousands of vehicles that vary by brand, model, fuel type, transmission, age, and mileage.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struggle to judge fair value; sellers struggle to price competitively.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key factors driving resale price of used cars, and surface patterns that support smarter buying and pricing decisions.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0" y="1371600"/>
            <a:ext cx="4343400" cy="448056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35240" y="2011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635240" y="269748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selling price of the used car — the real market outcome after negotiation, as opposed to the initial listed price.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416052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Final_price against brand, year, fuel, transmission and mileage reveals which attributes actually move resale value.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Analysis  |  Cars24 Dataset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Web-scraped directly from the Cars24 used-car marketplace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743200" cy="28346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GET requests sent to Cars24 city-specific listing pages with a browser user-agent header.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600200"/>
            <a:ext cx="2743200" cy="28346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3639312" y="1828800"/>
            <a:ext cx="502920" cy="50292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39312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9312" y="28346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parses each listing card; Regular Expressions extract year, brand, price and mileage from unstructured text.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18504" y="1600200"/>
            <a:ext cx="2743200" cy="28346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547104" y="1828800"/>
            <a:ext cx="502920" cy="50292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6" name="Text 14"/>
          <p:cNvSpPr/>
          <p:nvPr/>
        </p:nvSpPr>
        <p:spPr>
          <a:xfrm>
            <a:off x="6547104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47104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47104" y="28346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fields are assembled into a Pandas DataFrame — one row per car listing.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26296" y="1600200"/>
            <a:ext cx="2743200" cy="28346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20" name="Shape 18"/>
          <p:cNvSpPr/>
          <p:nvPr/>
        </p:nvSpPr>
        <p:spPr>
          <a:xfrm>
            <a:off x="9454896" y="1828800"/>
            <a:ext cx="502920" cy="50292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1" name="Text 19"/>
          <p:cNvSpPr/>
          <p:nvPr/>
        </p:nvSpPr>
        <p:spPr>
          <a:xfrm>
            <a:off x="9454896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54896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54896" y="28346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repeated across 8 cities × 10 target brands to broaden coverage, then exported to CSV.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50292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· Hyderabad · Delhi · Chennai · Noida · Ahmedabad · Jaipur · Mumbai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5532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· BeautifulSoup · Regex · Pandas · NumPy · Matplotlib · Seaborn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Analysis  |  Cars24 Dataset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2103120" cy="1234440"/>
          </a:xfrm>
          <a:prstGeom prst="rect">
            <a:avLst/>
          </a:prstGeom>
          <a:solidFill>
            <a:srgbClr val="F5F6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572768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2203704"/>
            <a:ext cx="19202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listings (rows)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97480" y="1463040"/>
            <a:ext cx="2103120" cy="1234440"/>
          </a:xfrm>
          <a:prstGeom prst="rect">
            <a:avLst/>
          </a:prstGeom>
          <a:solidFill>
            <a:srgbClr val="F5F6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572768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→ 11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88920" y="2203704"/>
            <a:ext cx="19202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final columns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1463040"/>
            <a:ext cx="2103120" cy="1234440"/>
          </a:xfrm>
          <a:prstGeom prst="rect">
            <a:avLst/>
          </a:prstGeom>
          <a:solidFill>
            <a:srgbClr val="F5F6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572768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83480" y="2203704"/>
            <a:ext cx="19202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scraped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86600" y="1463040"/>
            <a:ext cx="2103120" cy="1234440"/>
          </a:xfrm>
          <a:prstGeom prst="rect">
            <a:avLst/>
          </a:prstGeom>
          <a:solidFill>
            <a:srgbClr val="F5F6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1572768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78040" y="2203704"/>
            <a:ext cx="19202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81160" y="1463040"/>
            <a:ext cx="2377440" cy="1234440"/>
          </a:xfrm>
          <a:prstGeom prst="rect">
            <a:avLst/>
          </a:prstGeom>
          <a:solidFill>
            <a:srgbClr val="F5F6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2600" y="1572768"/>
            <a:ext cx="21945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2012–2026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372600" y="2203704"/>
            <a:ext cx="21945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years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971800"/>
            <a:ext cx="11201400" cy="3429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71800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2971800"/>
            <a:ext cx="2560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69480" y="2971800"/>
            <a:ext cx="4297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314700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17720" y="3314700"/>
            <a:ext cx="2560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269480" y="3314700"/>
            <a:ext cx="4297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year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3657600"/>
            <a:ext cx="11201400" cy="3429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657600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/ Model / Variant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17720" y="3657600"/>
            <a:ext cx="2560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69480" y="3657600"/>
            <a:ext cx="4297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Make, model &amp; trim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4000500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KM_Driven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17720" y="4000500"/>
            <a:ext cx="2560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269480" y="4000500"/>
            <a:ext cx="4297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kilometers driven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4343400"/>
            <a:ext cx="11201400" cy="3429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343400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617720" y="4343400"/>
            <a:ext cx="2560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269480" y="4343400"/>
            <a:ext cx="4297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/ Diesel / CNG / Electric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" y="4686300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617720" y="4686300"/>
            <a:ext cx="2560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269480" y="4686300"/>
            <a:ext cx="4297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Automatic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02920" y="5029200"/>
            <a:ext cx="11201400" cy="3429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5029200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EMI/Month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617720" y="5029200"/>
            <a:ext cx="2560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269480" y="5029200"/>
            <a:ext cx="4297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installment (₹)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40080" y="5372100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Listed_price_Lakh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617720" y="5372100"/>
            <a:ext cx="2560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269480" y="5372100"/>
            <a:ext cx="4297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asking price (₹ Lakh)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02920" y="5715000"/>
            <a:ext cx="11201400" cy="3429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5715000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617720" y="5715000"/>
            <a:ext cx="2560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(target)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7269480" y="5715000"/>
            <a:ext cx="4297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selling price (₹ Lakh)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40080" y="6057900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617720" y="6057900"/>
            <a:ext cx="2560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7269480" y="6057900"/>
            <a:ext cx="4297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/ dealership area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Analysis  |  Cars24 Dataset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Assessment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by column, before cleaning (n = 987)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463040"/>
          <a:ext cx="68580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63040"/>
            <a:ext cx="4023360" cy="493776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stands out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09560" y="2103120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is missing in ~87% of rows — too sparse to impute reliably.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Brand and Location each have 30–35% missing — mergeable via grouped mode/fill.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numeric fields (KM_Driven, Fuel, Transmission, Final_price) are fully populated.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listings were found in the raw data.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Analysis  |  Cars24 Dataset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Strategy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5440680" cy="21488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463040"/>
            <a:ext cx="82296" cy="214884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6420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by group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filled with median; Brand with mode; Model/Variant filled with the most common value within each Brand (and Brand+Model) group.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40680" cy="21488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1463040"/>
            <a:ext cx="82296" cy="2148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6420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unreliable column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14884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dropped outright — 87% missing exceeded the 70% usability threshold.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840480"/>
            <a:ext cx="5440680" cy="21488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3840480"/>
            <a:ext cx="82296" cy="2148840"/>
          </a:xfrm>
          <a:prstGeom prst="rect">
            <a:avLst/>
          </a:prstGeom>
          <a:solidFill>
            <a:srgbClr val="3E6FB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4164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convert types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currency text (‚L’, commas, ‚km’) via regex; cast Year, KM_Driven, EMI/Month and Final_price to numeric types.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840480"/>
            <a:ext cx="5440680" cy="21488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3840480"/>
            <a:ext cx="82296" cy="2148840"/>
          </a:xfrm>
          <a:prstGeom prst="rect">
            <a:avLst/>
          </a:prstGeom>
          <a:solidFill>
            <a:srgbClr val="3E8E5A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404164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remaining gaps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452628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EMI/Month and Listed_price imputed using Brand/Model group means; Location gaps labeled “User Not Defined.”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0807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987 rows × 11 clean columns — zero nulls, zero duplicates, all numeric fields properly typed.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Analysis  |  Cars24 Dataset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applied to Final_price and KM_Driven (clipped to [Q1−1.5×IQR, Q3+1.5×IQR])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C93A6">
                <a:alpha val="28000"/>
              </a:srgbClr>
            </a:outerShdw>
          </a:effectLst>
        </p:spPr>
      </p:sp>
      <p:pic>
        <p:nvPicPr>
          <p:cNvPr id="5" name="Image 0" descr="/home/claude/imgs/cell1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2" y="2060022"/>
            <a:ext cx="2397557" cy="18235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37997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 — before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46120" y="160020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C93A6">
                <a:alpha val="28000"/>
              </a:srgbClr>
            </a:outerShdw>
          </a:effectLst>
        </p:spPr>
      </p:sp>
      <p:pic>
        <p:nvPicPr>
          <p:cNvPr id="8" name="Image 1" descr="/home/claude/imgs/cell1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0362" y="2060022"/>
            <a:ext cx="2397557" cy="18235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46120" y="437997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 — after clip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46520" y="160020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C93A6">
                <a:alpha val="28000"/>
              </a:srgbClr>
            </a:outerShdw>
          </a:effectLst>
        </p:spPr>
      </p:sp>
      <p:pic>
        <p:nvPicPr>
          <p:cNvPr id="11" name="Image 2" descr="/home/claude/imgs/cell1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762" y="2010981"/>
            <a:ext cx="2397557" cy="19216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46520" y="437997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KM_Driven — before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9189720" y="160020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C93A6">
                <a:alpha val="28000"/>
              </a:srgbClr>
            </a:outerShdw>
          </a:effectLst>
        </p:spPr>
      </p:sp>
      <p:pic>
        <p:nvPicPr>
          <p:cNvPr id="14" name="Image 3" descr="/home/claude/imgs/cell1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3962" y="2115233"/>
            <a:ext cx="2397557" cy="171313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89720" y="437997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KM_Driven — after clip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02920" y="4892040"/>
            <a:ext cx="11155680" cy="146304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7" name="Text 11"/>
          <p:cNvSpPr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3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clipping, KM_Driven ranged up to 5.15 million km — clearly scraping/data-entry noise, not real mileage. The IQR clip pulls extreme values in without deleting rows, keeping the full 987-row sample intact for analysis.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Analysis  |  Cars24 Dataset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year and fuel type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6751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C93A6">
                <a:alpha val="28000"/>
              </a:srgbClr>
            </a:outerShdw>
          </a:effectLst>
        </p:spPr>
      </p:sp>
      <p:pic>
        <p:nvPicPr>
          <p:cNvPr id="5" name="Image 0" descr="/home/claude/imgs/cell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5" y="1799688"/>
            <a:ext cx="6141110" cy="353294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463040"/>
            <a:ext cx="4251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C93A6">
                <a:alpha val="28000"/>
              </a:srgbClr>
            </a:outerShdw>
          </a:effectLst>
        </p:spPr>
      </p:sp>
      <p:pic>
        <p:nvPicPr>
          <p:cNvPr id="7" name="Image 1" descr="/home/claude/imgs/cell1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718" y="2149942"/>
            <a:ext cx="3911803" cy="283243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58064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cluster around 2019–2023, and Petrol dominates the fuel mix — the used market skews toward recent, petrol-driven vehicles with limited CNG/Electric supply.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Analysis  |  Cars24 Dataset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Landscape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694944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C93A6">
                <a:alpha val="28000"/>
              </a:srgbClr>
            </a:outerShdw>
          </a:effectLst>
        </p:spPr>
      </p:sp>
      <p:pic>
        <p:nvPicPr>
          <p:cNvPr id="4" name="Image 0" descr="/home/claude/imgs/cell1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2181656"/>
            <a:ext cx="6393485" cy="3363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417320"/>
            <a:ext cx="4023360" cy="48920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brands by volume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0956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058400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507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90956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058400" y="2606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0956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058400" y="3108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90956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0058400" y="3611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909560" y="42976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Hyundai, Maruti, Tata and MG together account for 977 of 987 listings (~99%). A small residual of ~10 lowercase-tagged brand entries reflects an unmerged second scraping batch — flagged as a data-quality limitation.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Analysis  |  Cars24 Dataset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&amp; Mileage Distributions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5486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C93A6">
                <a:alpha val="28000"/>
              </a:srgbClr>
            </a:outerShdw>
          </a:effectLst>
        </p:spPr>
      </p:sp>
      <p:pic>
        <p:nvPicPr>
          <p:cNvPr id="4" name="Image 0" descr="/home/claude/imgs/cell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892648"/>
            <a:ext cx="5047488" cy="34384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7972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 (₹ Lakh)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172200" y="1463040"/>
            <a:ext cx="5486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C93A6">
                <a:alpha val="28000"/>
              </a:srgbClr>
            </a:outerShdw>
          </a:effectLst>
        </p:spPr>
      </p:sp>
      <p:pic>
        <p:nvPicPr>
          <p:cNvPr id="7" name="Image 1" descr="/home/claude/imgs/cell1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1892648"/>
            <a:ext cx="5047488" cy="34384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72200" y="57972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KM_Driven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02920" y="5897880"/>
            <a:ext cx="11155680" cy="6858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58978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 is right-skewed with a median near ₹6.8L; KM_Driven is similarly right-skewed, with most cars clustered under ~1 lakh km driven.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Analysis  |  Cars24 Dataset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vs. Price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higher mileage push resale value down?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70408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C93A6">
                <a:alpha val="28000"/>
              </a:srgbClr>
            </a:outerShdw>
          </a:effectLst>
        </p:spPr>
      </p:sp>
      <p:pic>
        <p:nvPicPr>
          <p:cNvPr id="5" name="Image 0" descr="/home/claude/imgs/cell1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" y="1789824"/>
            <a:ext cx="6477610" cy="4192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463040"/>
            <a:ext cx="3840480" cy="484632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7" name="Text 4"/>
          <p:cNvSpPr/>
          <p:nvPr/>
        </p:nvSpPr>
        <p:spPr>
          <a:xfrm>
            <a:off x="8092440" y="1737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92440" y="21031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regression line trends downward: cars with more kilometers driven tend to sell for less.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92440" y="3474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384048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is a usable, low-friction pricing lever — sellers can anchor asking price to KM bands, and buyers can use it to sanity-check a quoted price.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Analysis  |  Cars24 Dataset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by Fuel Type &amp; Transmission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64922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C93A6">
                <a:alpha val="28000"/>
              </a:srgbClr>
            </a:outerShdw>
          </a:effectLst>
        </p:spPr>
      </p:sp>
      <p:pic>
        <p:nvPicPr>
          <p:cNvPr id="4" name="Image 0" descr="/home/claude/imgs/cell1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04" y="1634947"/>
            <a:ext cx="5804072" cy="39538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797296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 distribution by fuel type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269480" y="1463040"/>
            <a:ext cx="43891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C93A6">
                <a:alpha val="28000"/>
              </a:srgbClr>
            </a:outerShdw>
          </a:effectLst>
        </p:spPr>
      </p:sp>
      <p:pic>
        <p:nvPicPr>
          <p:cNvPr id="7" name="Image 1" descr="/home/claude/imgs/cell1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808" y="1634947"/>
            <a:ext cx="3788465" cy="39538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69480" y="57972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mix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02920" y="5897880"/>
            <a:ext cx="11155680" cy="6858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58978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type shapes both the price range and spread; automatic-transmission cars command a premium over manual, consistent with buyer demand for convenience.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Analysis  |  Cars24 Dataset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Trend by Year &amp; Brand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5486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C93A6">
                <a:alpha val="28000"/>
              </a:srgbClr>
            </a:outerShdw>
          </a:effectLst>
        </p:spPr>
      </p:sp>
      <p:pic>
        <p:nvPicPr>
          <p:cNvPr id="4" name="Image 0" descr="/home/claude/imgs/cell1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892648"/>
            <a:ext cx="5047488" cy="34384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7972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vs. Final Price (by Brand)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172200" y="1463040"/>
            <a:ext cx="5486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C93A6">
                <a:alpha val="28000"/>
              </a:srgbClr>
            </a:outerShdw>
          </a:effectLst>
        </p:spPr>
      </p:sp>
      <p:pic>
        <p:nvPicPr>
          <p:cNvPr id="7" name="Image 1" descr="/home/claude/imgs/cell1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1783485"/>
            <a:ext cx="5047488" cy="36567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72200" y="57972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Final Price by Brand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02920" y="5897880"/>
            <a:ext cx="11155680" cy="6858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58978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cars (2020–2025) cluster at higher prices; older cars (2013–2017) mostly sit in the ₹1–6L band. MG, Tata and Hyundai post the highest average resale prices among major brands.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Analysis  |  Cars24 Dataset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numeric features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3093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C93A6">
                <a:alpha val="28000"/>
              </a:srgbClr>
            </a:outerShdw>
          </a:effectLst>
        </p:spPr>
      </p:sp>
      <p:pic>
        <p:nvPicPr>
          <p:cNvPr id="5" name="Image 0" descr="/home/claude/imgs/cell1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" y="1816942"/>
            <a:ext cx="5804611" cy="40927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86600" y="1417320"/>
            <a:ext cx="4572000" cy="48920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" name="Text 4"/>
          <p:cNvSpPr/>
          <p:nvPr/>
        </p:nvSpPr>
        <p:spPr>
          <a:xfrm>
            <a:off x="7360920" y="16459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matrix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60920" y="2103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EMI/Month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32688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+0.74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60920" y="2423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driver of Final_price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6092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Listed_price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32688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+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60920" y="3383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price tracks final price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360920" y="4023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326880" y="4023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+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60920" y="4343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cars sell higher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360920" y="4983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KM_Driven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326880" y="4983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360920" y="5303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mileage, lower price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Analysis  |  Cars24 Dataset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Activity by Location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cities by listing count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556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C93A6">
                <a:alpha val="28000"/>
              </a:srgbClr>
            </a:outerShdw>
          </a:effectLst>
        </p:spPr>
      </p:sp>
      <p:pic>
        <p:nvPicPr>
          <p:cNvPr id="5" name="Image 0" descr="/home/claude/imgs/cell2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263" y="1631290"/>
            <a:ext cx="9542994" cy="386974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852160"/>
            <a:ext cx="11155680" cy="7315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8521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volume is concentrated in a handful of metro locations — useful signal for where inventory and marketing spend will have the most reach.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Analysis  |  Cars24 Dataset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40680" cy="1600200"/>
          </a:xfrm>
          <a:prstGeom prst="rect">
            <a:avLst/>
          </a:prstGeom>
          <a:solidFill>
            <a:srgbClr val="0E1A3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00200"/>
            <a:ext cx="384048" cy="38404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938528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cars command higher resale value; price rises steadily with manufacturing year.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40680" cy="1600200"/>
          </a:xfrm>
          <a:prstGeom prst="rect">
            <a:avLst/>
          </a:prstGeom>
          <a:solidFill>
            <a:srgbClr val="0E1A30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600200"/>
            <a:ext cx="384048" cy="38404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95160" y="15544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1938528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KM_Driven consistently pulls Final_price down.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200400"/>
            <a:ext cx="5440680" cy="1600200"/>
          </a:xfrm>
          <a:prstGeom prst="rect">
            <a:avLst/>
          </a:prstGeom>
          <a:solidFill>
            <a:srgbClr val="0E1A3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429000"/>
            <a:ext cx="384048" cy="38404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3832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767328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Premium/preferred brands (MG, Tata, Hyundai) hold higher average prices than budget brands.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200400"/>
            <a:ext cx="5440680" cy="1600200"/>
          </a:xfrm>
          <a:prstGeom prst="rect">
            <a:avLst/>
          </a:prstGeom>
          <a:solidFill>
            <a:srgbClr val="0E1A3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3429000"/>
            <a:ext cx="384048" cy="38404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33832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3767328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vehicles resell for more than manual, on average.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5029200"/>
            <a:ext cx="5440680" cy="1600200"/>
          </a:xfrm>
          <a:prstGeom prst="rect">
            <a:avLst/>
          </a:prstGeom>
          <a:solidFill>
            <a:srgbClr val="0E1A30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5257800"/>
            <a:ext cx="384048" cy="38404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52120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EMI/Month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5596128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numeric correlate of Final_price (r ≈ 0.74) — financing terms track sale price closely.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5029200"/>
            <a:ext cx="5440680" cy="1600200"/>
          </a:xfrm>
          <a:prstGeom prst="rect">
            <a:avLst/>
          </a:prstGeom>
          <a:solidFill>
            <a:srgbClr val="0E1A30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5257800"/>
            <a:ext cx="384048" cy="38404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95160" y="52120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95160" y="5596128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metro cities account for most listings and market activity.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Analysis  |  Cars24 Dataset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5440680" cy="48463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labels are inconsistently cased for ~10 rows (“maruti” vs “Maruti”) — an unmerged scrape batch.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column dropped entirely (87% missing) — no state/region-of-registration signal remains.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Model, Brand and Listed_price values rely on group means/modes, which can mask real variation.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skews toward Hyundai/Maruti/Tata/MG — smaller brands are underrepresented for reliable comparison.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417320"/>
            <a:ext cx="5440680" cy="48463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0" y="205740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Brand/Model casing at scrape time to eliminate duplicate categories.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Re-scrape or source Registration data separately if regional pricing effects matter.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regression/tree-based model to quantify each feature's price impact, not just correlation.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brand and city coverage for a more representative, balanced sample.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Analysis  |  Cars24 Dataset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1444</Words>
  <Application>Microsoft Office PowerPoint</Application>
  <PresentationFormat>Widescreen</PresentationFormat>
  <Paragraphs>227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kumar ravi</cp:lastModifiedBy>
  <cp:revision>1</cp:revision>
  <dcterms:created xsi:type="dcterms:W3CDTF">2026-07-31T18:19:16Z</dcterms:created>
  <dcterms:modified xsi:type="dcterms:W3CDTF">2026-09-13T15:24:33Z</dcterms:modified>
</cp:coreProperties>
</file>